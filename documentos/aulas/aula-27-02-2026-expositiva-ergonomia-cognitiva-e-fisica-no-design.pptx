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59" r:id="rId6"/>
    <p:sldId id="264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9EA08A-6305-91E2-6DB2-6F19974491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482700F-1AB7-F53E-D7FF-37612B623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400C7B8-DE85-88B4-B7CC-E5A26334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FB9317-F1E2-839D-9C8C-A540E31CB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4FE011F-1B48-2C9A-6818-44E6C4B4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0720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E874CD-C078-19E0-0191-77A2A348C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CFC1D-2196-72C5-EB3E-35E400409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091C904-7A0E-1792-2AB5-6EC2F4527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80EF673-5B8D-A1C6-D570-9EBFFE175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2F094B-73B2-A714-9DCF-6BC092260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295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8D1C5D-DA74-B802-3776-C754309C7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EB529E7-0032-67EB-CD74-C1D8234A8B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A73EBD0-43D7-915F-E623-2634D493D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2E6F79-5F57-F185-BEB8-40AD51758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75665C-BA07-0BEB-B042-9A2D54B9F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40770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10F3B9-35F5-E7DD-34B9-1A09B99D3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86F0F8-8A81-7A98-C420-1BFC188311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F339F36-8FB9-5134-054B-CBB8E0EBAE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7F0E7CA-B194-38A9-B756-A3894BCFC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41CB06C-A102-F526-2D54-543E8F1AB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290161D-D771-FA4E-7DFE-13F2F8156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9949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847091-A6D2-89A8-440B-BAFC51F94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AC5C9B6-3012-B7AA-04C3-578EE83F3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DFBAC51-6BDD-124B-E027-D958B53923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06CD12E-22D0-20FC-74CF-330322F55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6EE539D-5D5F-8B76-9352-9AE7D8363F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7EAA3331-3612-5A20-5D51-6804F53B9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4438B61-2E02-C7CA-1A7B-89EDC62AD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C0D18CD4-1274-61FA-5CBB-0882CDDE7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5015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B49D45-FE31-81A0-1823-F59761A35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A12E0C7-6A70-10D5-9555-EFC186723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A57FE74-F507-EB41-22DC-12CFA4B3F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FA3F913-D3E8-2B95-187B-FB5E3039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100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C2434A9-B935-281C-BE76-637B6DF7C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192A800-AAA7-A278-4FA5-BE88D0F98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9B8DE2-8A6E-D859-50B4-6F85B5AEE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9110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343C68-BE34-3EF8-1503-9BBBBE6B7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70C2C8-8B18-3C58-319B-31E615552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C549B1D-5B5D-166D-AD80-424516F347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8AA8E25-188A-C6C6-FD13-5AFBA1459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ADE0251-1260-EBE4-ADF0-CF8E48051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60E826-6F88-4798-E976-707147B86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1752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B1EB88-4214-2EA7-A95F-922FDF1FA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00C73BC-A49A-736C-8377-0AA6AB84A5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BD06745-E932-6386-2104-9083E36F0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D3A4A7E-EDE8-4FCE-FE41-3E2626EAF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4356B6C-98D4-0551-E869-DEDAB8BE0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F266FE2-8CB6-5159-B735-730CB7267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9009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8548A7-9DA4-BAAE-81B5-D0F31B7C5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A7A771B-7752-3F4E-AAD2-AFCEEB00C4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F48E832-BD1B-7FC7-A673-8D23B616D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9D8AE02-7FF8-8225-992D-FE3C23219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7A1DB3-8725-829D-245F-60457A6D0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5899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60AD546-DCBE-F302-4EE4-9308BC5990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D07E581-3033-E027-2767-C72D29D320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6F26FC-55B4-072A-9DB0-779D49758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DC3A4E-6117-6B5B-AC1C-C87D14F64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C402AD-2D78-75FC-D385-D7E86A26C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4320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E6C907C-4415-3FB0-31C1-D123C6DE4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930692F-2CEB-CAA6-1775-ED5C641486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33F6A25-BD89-6FFB-A934-A540228CF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528686-D368-4857-8A57-28CA741A0FB0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F708508-4D05-C1BC-2B7C-0AE668DCBD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238B866-3156-F59E-F430-09F64066D1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D9F8C7-8656-49C2-89BC-01DE8795C88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5543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DCEFC3-C156-A48E-66AC-8A8AF3FEF1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Ergonomia Cognitiva e Física no Design de Interfaces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CB81BF-65CC-709C-B32F-3ECA4CEA1B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Do Modelo Mental à Interação Física: A Engenharia da Experiência</a:t>
            </a:r>
          </a:p>
          <a:p>
            <a:endParaRPr lang="pt-BR" dirty="0"/>
          </a:p>
          <a:p>
            <a:r>
              <a:rPr lang="pt-BR" dirty="0"/>
              <a:t>Prof. Dr. Lincoln Sposito</a:t>
            </a:r>
          </a:p>
          <a:p>
            <a:endParaRPr lang="pt-BR" dirty="0"/>
          </a:p>
          <a:p>
            <a:r>
              <a:rPr lang="pt-BR" dirty="0"/>
              <a:t>Introdução à Etapa de Pesquisa do Usuário (UCD)</a:t>
            </a:r>
          </a:p>
        </p:txBody>
      </p:sp>
    </p:spTree>
    <p:extLst>
      <p:ext uri="{BB962C8B-B14F-4D97-AF65-F5344CB8AC3E}">
        <p14:creationId xmlns:p14="http://schemas.microsoft.com/office/powerpoint/2010/main" val="1062188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B916B6-0F92-4200-50DA-20712E47E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Fundamentação Teórica - Citações Diretas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A0E0B2-2F74-2928-2FAF-D3B75E72AC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"A </a:t>
            </a:r>
            <a:r>
              <a:rPr lang="pt-BR" b="1" dirty="0"/>
              <a:t>ergonomia cognitiva</a:t>
            </a:r>
            <a:r>
              <a:rPr lang="pt-BR" dirty="0"/>
              <a:t> estuda os </a:t>
            </a:r>
            <a:r>
              <a:rPr lang="pt-BR" b="1" dirty="0"/>
              <a:t>processos mentais</a:t>
            </a:r>
            <a:r>
              <a:rPr lang="pt-BR" dirty="0"/>
              <a:t>, tais como </a:t>
            </a:r>
            <a:r>
              <a:rPr lang="pt-BR" u="sng" dirty="0">
                <a:highlight>
                  <a:srgbClr val="FFFF00"/>
                </a:highlight>
              </a:rPr>
              <a:t>percepção, memória, raciocínio e resposta motora</a:t>
            </a:r>
            <a:r>
              <a:rPr lang="pt-BR" dirty="0"/>
              <a:t>, uma vez que eles afetam as </a:t>
            </a:r>
            <a:r>
              <a:rPr lang="pt-BR" u="sng" dirty="0"/>
              <a:t>interações entre seres humanos </a:t>
            </a:r>
            <a:r>
              <a:rPr lang="pt-BR" dirty="0"/>
              <a:t>e outros elementos de um sistema" </a:t>
            </a:r>
            <a:r>
              <a:rPr lang="pt-BR" b="1" dirty="0"/>
              <a:t>(</a:t>
            </a:r>
            <a:r>
              <a:rPr lang="pt-BR" b="1" dirty="0" err="1"/>
              <a:t>Benyon</a:t>
            </a:r>
            <a:r>
              <a:rPr lang="pt-BR" b="1" dirty="0"/>
              <a:t>, 2011, p. 385)</a:t>
            </a:r>
            <a:r>
              <a:rPr lang="pt-BR" dirty="0"/>
              <a:t>.</a:t>
            </a:r>
          </a:p>
          <a:p>
            <a:r>
              <a:rPr lang="pt-BR" dirty="0"/>
              <a:t>"O </a:t>
            </a:r>
            <a:r>
              <a:rPr lang="pt-BR" b="1" dirty="0"/>
              <a:t>projeto de interfaces </a:t>
            </a:r>
            <a:r>
              <a:rPr lang="pt-BR" dirty="0"/>
              <a:t>deve considerar as </a:t>
            </a:r>
            <a:r>
              <a:rPr lang="pt-BR" dirty="0">
                <a:highlight>
                  <a:srgbClr val="FFFF00"/>
                </a:highlight>
              </a:rPr>
              <a:t>limitações físicas e cognitivas do ser humano </a:t>
            </a:r>
            <a:r>
              <a:rPr lang="pt-BR" dirty="0"/>
              <a:t>para garantir que a interação não cause </a:t>
            </a:r>
            <a:r>
              <a:rPr lang="pt-BR" u="sng" dirty="0"/>
              <a:t>fadiga, erro ou frustração</a:t>
            </a:r>
            <a:r>
              <a:rPr lang="pt-BR" dirty="0"/>
              <a:t>, promovendo a </a:t>
            </a:r>
            <a:r>
              <a:rPr lang="pt-BR" b="1" dirty="0"/>
              <a:t>usabilidade plena</a:t>
            </a:r>
            <a:r>
              <a:rPr lang="pt-BR" dirty="0"/>
              <a:t>" </a:t>
            </a:r>
            <a:r>
              <a:rPr lang="pt-BR" b="1" dirty="0"/>
              <a:t>(Barreto et al., 2018, p. 42)</a:t>
            </a:r>
            <a:r>
              <a:rPr lang="pt-BR" dirty="0"/>
              <a:t>.</a:t>
            </a:r>
          </a:p>
          <a:p>
            <a:r>
              <a:rPr lang="pt-BR" dirty="0"/>
              <a:t>"</a:t>
            </a:r>
            <a:r>
              <a:rPr lang="pt-BR" b="1" dirty="0"/>
              <a:t>Interface</a:t>
            </a:r>
            <a:r>
              <a:rPr lang="pt-BR" dirty="0"/>
              <a:t> é o meio pelo qual </a:t>
            </a:r>
            <a:r>
              <a:rPr lang="pt-BR" dirty="0">
                <a:highlight>
                  <a:srgbClr val="FFFF00"/>
                </a:highlight>
              </a:rPr>
              <a:t>usuários interagem com um software</a:t>
            </a:r>
            <a:r>
              <a:rPr lang="pt-BR" dirty="0"/>
              <a:t>. Uma boa interface deve ser </a:t>
            </a:r>
            <a:r>
              <a:rPr lang="pt-BR" u="sng" dirty="0"/>
              <a:t>simples, intuitiva e consistente</a:t>
            </a:r>
            <a:r>
              <a:rPr lang="pt-BR" dirty="0"/>
              <a:t>, </a:t>
            </a:r>
            <a:r>
              <a:rPr lang="pt-BR" b="1" dirty="0"/>
              <a:t>minimizando o esforço cognitivo </a:t>
            </a:r>
            <a:r>
              <a:rPr lang="pt-BR" dirty="0"/>
              <a:t>necessário para realizar tarefas" </a:t>
            </a:r>
            <a:r>
              <a:rPr lang="pt-BR" b="1" dirty="0"/>
              <a:t>(Valente, 2020, p. 290)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1745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6BEF81-A2DE-0D3C-B1FC-4141282A3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Visão de Mercado: O Tripé Estratégico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2378882-009C-E480-1187-8117DBC94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Marketing Digital &amp; UX:</a:t>
            </a:r>
            <a:r>
              <a:rPr lang="pt-BR" dirty="0"/>
              <a:t> A interface como ferramenta de conversão de negócios.</a:t>
            </a:r>
          </a:p>
          <a:p>
            <a:pPr lvl="1"/>
            <a:r>
              <a:rPr lang="pt-BR" b="1" dirty="0"/>
              <a:t>SEO (Visibilidade):</a:t>
            </a:r>
            <a:r>
              <a:rPr lang="pt-BR" dirty="0"/>
              <a:t> Estrutura de informação e performance para indexação e primeiro contato.</a:t>
            </a:r>
          </a:p>
          <a:p>
            <a:pPr lvl="1"/>
            <a:r>
              <a:rPr lang="pt-BR" b="1" dirty="0"/>
              <a:t>Retenção (Engajamento):</a:t>
            </a:r>
            <a:r>
              <a:rPr lang="pt-BR" dirty="0"/>
              <a:t> Redução da fricção para manter o usuário ativo no ecossistema.</a:t>
            </a:r>
          </a:p>
          <a:p>
            <a:pPr lvl="1"/>
            <a:r>
              <a:rPr lang="pt-BR" b="1" dirty="0"/>
              <a:t>Conversão (Resultado):</a:t>
            </a:r>
            <a:r>
              <a:rPr lang="pt-BR" dirty="0"/>
              <a:t> Design persuasivo e intuitivo que guia o usuário à ação final.</a:t>
            </a:r>
          </a:p>
          <a:p>
            <a:r>
              <a:rPr lang="pt-BR" b="1" dirty="0"/>
              <a:t>Fundamento:</a:t>
            </a:r>
            <a:r>
              <a:rPr lang="pt-BR" dirty="0"/>
              <a:t> O UX transforma requisitos técnicos em valor percebido pelo cliente.</a:t>
            </a:r>
          </a:p>
        </p:txBody>
      </p:sp>
    </p:spTree>
    <p:extLst>
      <p:ext uri="{BB962C8B-B14F-4D97-AF65-F5344CB8AC3E}">
        <p14:creationId xmlns:p14="http://schemas.microsoft.com/office/powerpoint/2010/main" val="738233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47F68-91E3-E5B3-98F9-D17745679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718139-9D67-0D3B-9633-2ACB0DAE2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Papel da Ergonomia na IHC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4FC596-2393-59FC-3AB2-D1C9013E9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Multidisciplinaridade:</a:t>
            </a:r>
            <a:r>
              <a:rPr lang="pt-BR" dirty="0"/>
              <a:t> A junção da Engenharia de Software com a Psicologia Cognitiva e a Fisiologia Humana.</a:t>
            </a:r>
          </a:p>
          <a:p>
            <a:r>
              <a:rPr lang="pt-BR" b="1" dirty="0"/>
              <a:t>Objetivo Sistêmico:</a:t>
            </a:r>
            <a:r>
              <a:rPr lang="pt-BR" dirty="0"/>
              <a:t> Adaptar o artefato digital às capacidades e limitações do usuário (e não o contrário).</a:t>
            </a:r>
          </a:p>
          <a:p>
            <a:r>
              <a:rPr lang="pt-BR" b="1" dirty="0"/>
              <a:t>Fatores Humanos:</a:t>
            </a:r>
            <a:r>
              <a:rPr lang="pt-BR" dirty="0"/>
              <a:t> Análise do contexto de uso, ambiente físico e estado emocional do usuário durante a interação.</a:t>
            </a:r>
          </a:p>
          <a:p>
            <a:r>
              <a:rPr lang="pt-BR" b="1" u="sng" dirty="0"/>
              <a:t>Engenharia de Usabilidade:</a:t>
            </a:r>
            <a:r>
              <a:rPr lang="pt-BR" dirty="0"/>
              <a:t> A ergonomia como métrica para os atributos de eficiência e facilidade de aprendizado (Nielsen).</a:t>
            </a:r>
          </a:p>
        </p:txBody>
      </p:sp>
    </p:spTree>
    <p:extLst>
      <p:ext uri="{BB962C8B-B14F-4D97-AF65-F5344CB8AC3E}">
        <p14:creationId xmlns:p14="http://schemas.microsoft.com/office/powerpoint/2010/main" val="1627658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5168F-D1EE-9FEE-FF0A-4A60A693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FDC55F-50D1-FA22-5BC9-526A9EBD7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Ergonomia Cognitiva - Processamento de Informação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52D27-9308-7391-7FA7-96692FCD92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b="1" dirty="0"/>
              <a:t>Modelos Mentais:</a:t>
            </a:r>
            <a:r>
              <a:rPr lang="pt-BR" dirty="0"/>
              <a:t> Como o usuário acredita que o sistema funciona (baseado em experiências anteriores).</a:t>
            </a:r>
          </a:p>
          <a:p>
            <a:r>
              <a:rPr lang="pt-BR" b="1" dirty="0"/>
              <a:t>Carga Cognitiva:</a:t>
            </a:r>
          </a:p>
          <a:p>
            <a:pPr lvl="1"/>
            <a:r>
              <a:rPr lang="pt-BR" dirty="0"/>
              <a:t>Intrínseca: Complexidade do conteúdo.</a:t>
            </a:r>
          </a:p>
          <a:p>
            <a:pPr lvl="1"/>
            <a:r>
              <a:rPr lang="pt-BR" dirty="0"/>
              <a:t>Extrínseca: Esforço desnecessário causado por design ruim (ruído visual).</a:t>
            </a:r>
          </a:p>
          <a:p>
            <a:r>
              <a:rPr lang="pt-BR" b="1" dirty="0"/>
              <a:t>Memória Humana:</a:t>
            </a:r>
            <a:r>
              <a:rPr lang="pt-BR" dirty="0"/>
              <a:t> * Limitações da Memória de Trabalho (Regra de Miller: 7±2 itens).</a:t>
            </a:r>
          </a:p>
          <a:p>
            <a:pPr lvl="1"/>
            <a:r>
              <a:rPr lang="pt-BR" dirty="0"/>
              <a:t>Priorização do Reconhecimento sobre a Lembrança.</a:t>
            </a:r>
          </a:p>
          <a:p>
            <a:r>
              <a:rPr lang="pt-BR" b="1" dirty="0"/>
              <a:t>Metáforas de Interface: </a:t>
            </a:r>
            <a:r>
              <a:rPr lang="pt-BR" dirty="0"/>
              <a:t>Uso de conceitos familiares (lixeira, pasta, disquete) para facilitar a cognição.</a:t>
            </a:r>
          </a:p>
        </p:txBody>
      </p:sp>
    </p:spTree>
    <p:extLst>
      <p:ext uri="{BB962C8B-B14F-4D97-AF65-F5344CB8AC3E}">
        <p14:creationId xmlns:p14="http://schemas.microsoft.com/office/powerpoint/2010/main" val="1052937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A795F4-72FC-6175-3808-1FC896BEF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Ergonomia Cognitiva e Memória de Trabalho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B5995C-7350-D3AA-353C-1C3D317176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Regra de Miller (7 +-2 ):</a:t>
            </a:r>
            <a:r>
              <a:rPr lang="pt-BR" dirty="0"/>
              <a:t> A limitação biológica da nossa memória de curto prazo. Processamos apenas entre 5 e 9 unidades de informação por vez.</a:t>
            </a:r>
          </a:p>
          <a:p>
            <a:r>
              <a:rPr lang="pt-BR" b="1" dirty="0" err="1"/>
              <a:t>Chunking</a:t>
            </a:r>
            <a:r>
              <a:rPr lang="pt-BR" b="1" dirty="0"/>
              <a:t> (Agrupamento):</a:t>
            </a:r>
            <a:r>
              <a:rPr lang="pt-BR" dirty="0"/>
              <a:t> Estratégia de design para agrupar dados isolados em "blocos" com significado.</a:t>
            </a:r>
          </a:p>
          <a:p>
            <a:pPr lvl="1"/>
            <a:r>
              <a:rPr lang="pt-BR" dirty="0"/>
              <a:t>Exemplo: Transformar 11 números soltos em um formato de telefone (XX) XXXXX-XXXX.</a:t>
            </a:r>
          </a:p>
          <a:p>
            <a:r>
              <a:rPr lang="pt-BR" b="1" dirty="0"/>
              <a:t>Aplicação no Site:</a:t>
            </a:r>
            <a:r>
              <a:rPr lang="pt-BR" dirty="0"/>
              <a:t> Menus e blocos de serviços que respeitam esses limites reduzem a frustração e aumentam a Retenção.</a:t>
            </a:r>
          </a:p>
        </p:txBody>
      </p:sp>
    </p:spTree>
    <p:extLst>
      <p:ext uri="{BB962C8B-B14F-4D97-AF65-F5344CB8AC3E}">
        <p14:creationId xmlns:p14="http://schemas.microsoft.com/office/powerpoint/2010/main" val="2221961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7406A-C105-10F0-6ABA-C7B7E7013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FD4770-91B6-124E-3D6E-B973367B2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Ergonomia Física - A Interface Tangível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F4E582-73E8-8951-9EB6-60086F267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Antropometria:</a:t>
            </a:r>
            <a:r>
              <a:rPr lang="pt-BR" dirty="0"/>
              <a:t> Estudo das medidas do corpo humano aplicadas ao design (alcance e posicionamento).</a:t>
            </a:r>
          </a:p>
          <a:p>
            <a:r>
              <a:rPr lang="pt-BR" b="1" dirty="0"/>
              <a:t>Fatores de Exclusão:</a:t>
            </a:r>
            <a:r>
              <a:rPr lang="pt-BR" dirty="0"/>
              <a:t> Visão (daltonismo), motricidade (tremores, precisão) e audição.</a:t>
            </a:r>
          </a:p>
          <a:p>
            <a:r>
              <a:rPr lang="pt-BR" b="1" dirty="0"/>
              <a:t>Design Responsivo e Mobile:</a:t>
            </a:r>
          </a:p>
          <a:p>
            <a:pPr lvl="1"/>
            <a:r>
              <a:rPr lang="pt-BR" u="sng" dirty="0"/>
              <a:t>Thumb Zone:</a:t>
            </a:r>
            <a:r>
              <a:rPr lang="pt-BR" dirty="0"/>
              <a:t> Áreas de alcance natural do polegar em smartphones.</a:t>
            </a:r>
          </a:p>
          <a:p>
            <a:pPr lvl="1"/>
            <a:r>
              <a:rPr lang="pt-BR" u="sng" dirty="0"/>
              <a:t>Touch Targets:</a:t>
            </a:r>
            <a:r>
              <a:rPr lang="pt-BR" dirty="0"/>
              <a:t> Dimensões mínimas para evitar erros de clique (mínimo 44x44 pontos).</a:t>
            </a:r>
          </a:p>
          <a:p>
            <a:r>
              <a:rPr lang="pt-BR" b="1" dirty="0"/>
              <a:t>Fadiga Visual:</a:t>
            </a:r>
            <a:r>
              <a:rPr lang="pt-BR" dirty="0"/>
              <a:t> Contraste, brilho e legibilidade da tipografia (Critérios WCAG).</a:t>
            </a:r>
          </a:p>
        </p:txBody>
      </p:sp>
    </p:spTree>
    <p:extLst>
      <p:ext uri="{BB962C8B-B14F-4D97-AF65-F5344CB8AC3E}">
        <p14:creationId xmlns:p14="http://schemas.microsoft.com/office/powerpoint/2010/main" val="503466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5B5D8-9C9B-8AFE-EC59-C72BFC9BA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228739-613B-79F3-DE04-46A6A4281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Marco - Pesquisa do Usuário (UCD)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C58DB73-4D80-0C09-001B-E9AD005C3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b="1" dirty="0"/>
              <a:t>A Ponte para a Prática:</a:t>
            </a:r>
            <a:r>
              <a:rPr lang="pt-BR" dirty="0"/>
              <a:t> A ergonomia só é aplicada com sucesso se conhecermos as características reais do nosso usuário.</a:t>
            </a:r>
          </a:p>
          <a:p>
            <a:r>
              <a:rPr lang="pt-BR" b="1" dirty="0"/>
              <a:t>Métodos de Coleta:</a:t>
            </a:r>
          </a:p>
          <a:p>
            <a:pPr lvl="1"/>
            <a:r>
              <a:rPr lang="pt-BR" dirty="0"/>
              <a:t>Observação e Entrevistas.</a:t>
            </a:r>
          </a:p>
          <a:p>
            <a:pPr lvl="1"/>
            <a:r>
              <a:rPr lang="pt-BR" dirty="0"/>
              <a:t>Questionários Estruturados (Google </a:t>
            </a:r>
            <a:r>
              <a:rPr lang="pt-BR" dirty="0" err="1"/>
              <a:t>Forms</a:t>
            </a:r>
            <a:r>
              <a:rPr lang="pt-BR" dirty="0"/>
              <a:t>): Coleta de dados quantitativos sobre percepção de usabilidade.</a:t>
            </a:r>
          </a:p>
          <a:p>
            <a:pPr lvl="2"/>
            <a:r>
              <a:rPr lang="pt-BR" dirty="0"/>
              <a:t>Link: </a:t>
            </a:r>
          </a:p>
          <a:p>
            <a:r>
              <a:rPr lang="pt-BR" b="1" dirty="0"/>
              <a:t>Próximo Passo: </a:t>
            </a:r>
          </a:p>
          <a:p>
            <a:pPr lvl="1"/>
            <a:r>
              <a:rPr lang="pt-BR" dirty="0"/>
              <a:t>Preparação da auditoria do portal spositol.github.io. </a:t>
            </a:r>
          </a:p>
          <a:p>
            <a:pPr lvl="1"/>
            <a:r>
              <a:rPr lang="pt-BR" dirty="0"/>
              <a:t>O que o usuário sente ao navegar? </a:t>
            </a:r>
          </a:p>
          <a:p>
            <a:pPr lvl="1"/>
            <a:r>
              <a:rPr lang="pt-BR" dirty="0"/>
              <a:t>Qual sua carga mental?</a:t>
            </a:r>
          </a:p>
        </p:txBody>
      </p:sp>
    </p:spTree>
    <p:extLst>
      <p:ext uri="{BB962C8B-B14F-4D97-AF65-F5344CB8AC3E}">
        <p14:creationId xmlns:p14="http://schemas.microsoft.com/office/powerpoint/2010/main" val="2340832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00BDE6-D7A5-21B0-4024-1B73D8A8D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de Fixação (Pós-Apresentação)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2DAE72-3E2F-5808-D67E-198C73F8A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Análise Crítica:</a:t>
            </a:r>
            <a:r>
              <a:rPr lang="pt-BR" dirty="0"/>
              <a:t> "Observem a Home do meu site. Identifiquem um elemento que viola a ergonomia cognitiva (excesso de texto) e um que respeita a ergonomia física (botões clicáveis).“</a:t>
            </a:r>
          </a:p>
          <a:p>
            <a:r>
              <a:rPr lang="pt-BR" b="1" dirty="0"/>
              <a:t>Debate:</a:t>
            </a:r>
            <a:r>
              <a:rPr lang="pt-BR" dirty="0"/>
              <a:t> Como o tripé SEO, Retenção e Conversão é afetado se ignorarmos a ergonomia para idosos (física) ou para usuários estressados (cognitiva)?</a:t>
            </a:r>
          </a:p>
        </p:txBody>
      </p:sp>
    </p:spTree>
    <p:extLst>
      <p:ext uri="{BB962C8B-B14F-4D97-AF65-F5344CB8AC3E}">
        <p14:creationId xmlns:p14="http://schemas.microsoft.com/office/powerpoint/2010/main" val="25562814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749</Words>
  <Application>Microsoft Office PowerPoint</Application>
  <PresentationFormat>Widescreen</PresentationFormat>
  <Paragraphs>54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Tema do Office</vt:lpstr>
      <vt:lpstr>Ergonomia Cognitiva e Física no Design de Interfaces</vt:lpstr>
      <vt:lpstr>Fundamentação Teórica - Citações Diretas</vt:lpstr>
      <vt:lpstr>Visão de Mercado: O Tripé Estratégico</vt:lpstr>
      <vt:lpstr>O Papel da Ergonomia na IHC</vt:lpstr>
      <vt:lpstr>Ergonomia Cognitiva - Processamento de Informação</vt:lpstr>
      <vt:lpstr>Ergonomia Cognitiva e Memória de Trabalho</vt:lpstr>
      <vt:lpstr>Ergonomia Física - A Interface Tangível</vt:lpstr>
      <vt:lpstr>Marco - Pesquisa do Usuário (UCD)</vt:lpstr>
      <vt:lpstr>Exercício de Fixação (Pós-Apresentação)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Lincoln Sposito</dc:creator>
  <cp:lastModifiedBy>Lincoln Sposito</cp:lastModifiedBy>
  <cp:revision>5</cp:revision>
  <dcterms:created xsi:type="dcterms:W3CDTF">2026-02-27T17:47:16Z</dcterms:created>
  <dcterms:modified xsi:type="dcterms:W3CDTF">2026-02-27T18:38:47Z</dcterms:modified>
</cp:coreProperties>
</file>